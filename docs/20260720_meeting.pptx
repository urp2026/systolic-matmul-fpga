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3FA03-B30B-4B10-B5F5-FD6D460E1951}" v="13" dt="2026-07-20T03:51:02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재 배" userId="d06955d6d887ba09" providerId="LiveId" clId="{0892B815-4501-4AC7-8D66-6DCE5838DAA0}"/>
    <pc:docChg chg="modSld">
      <pc:chgData name="윤재 배" userId="d06955d6d887ba09" providerId="LiveId" clId="{0892B815-4501-4AC7-8D66-6DCE5838DAA0}" dt="2026-07-20T04:41:02.112" v="24" actId="20577"/>
      <pc:docMkLst>
        <pc:docMk/>
      </pc:docMkLst>
      <pc:sldChg chg="modSp mod">
        <pc:chgData name="윤재 배" userId="d06955d6d887ba09" providerId="LiveId" clId="{0892B815-4501-4AC7-8D66-6DCE5838DAA0}" dt="2026-07-20T04:41:02.112" v="24" actId="20577"/>
        <pc:sldMkLst>
          <pc:docMk/>
          <pc:sldMk cId="0" sldId="258"/>
        </pc:sldMkLst>
        <pc:spChg chg="mod">
          <ac:chgData name="윤재 배" userId="d06955d6d887ba09" providerId="LiveId" clId="{0892B815-4501-4AC7-8D66-6DCE5838DAA0}" dt="2026-07-20T04:40:57.898" v="18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윤재 배" userId="d06955d6d887ba09" providerId="LiveId" clId="{0892B815-4501-4AC7-8D66-6DCE5838DAA0}" dt="2026-07-20T04:41:02.112" v="24" actId="20577"/>
          <ac:spMkLst>
            <pc:docMk/>
            <pc:sldMk cId="0" sldId="258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SQNR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12.9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5AC-4FEE-B933-BEDEE611047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60C8FAD-8203-4DA8-A38B-CF7DAB5CBFE0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.1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5AC-4FEE-B933-BEDEE611047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DCB7224-F9C3-436F-8E06-8BD70DB86A67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.4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5AC-4FEE-B933-BEDEE611047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0" i="0" u="none" strike="noStrike">
                    <a:solidFill>
                      <a:srgbClr val="111111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INT4</c:v>
                </c:pt>
                <c:pt idx="1">
                  <c:v>INT8</c:v>
                </c:pt>
                <c:pt idx="2">
                  <c:v>INT16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12.9</c:v>
                </c:pt>
                <c:pt idx="1">
                  <c:v>38.1</c:v>
                </c:pt>
                <c:pt idx="2">
                  <c:v>86.4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A0-490F-9307-606CA7C5F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8888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809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7D06-BB6B-C86B-D41B-7F9291E6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2E1D4-CE71-17C1-29D7-EF392AEBF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58377-73B1-2058-933A-50E6869E7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00320-5ADA-B136-2533-2F179F07C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32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3000" y="265176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URP MEETING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43000" y="3520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</a:rPr>
              <a:t>2026.07.20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5349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</a:t>
            </a:r>
            <a:r>
              <a:rPr lang="en-US" sz="14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하계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URP
</a:t>
            </a: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배윤재   이예준   주형능   이재현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9456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산출물 및 검증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194560" y="2743200"/>
            <a:ext cx="9052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971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곱셈기 구조 비교 — Array vs. Wallace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194560" y="3886200"/>
            <a:ext cx="9052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4114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정밀도 비교 — SQNR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2194560" y="5029200"/>
            <a:ext cx="9052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194560" y="5257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및 추후 계획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설계 산출물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 · Testbench · Python — 각 정밀도(INT4 / 8 / 16)별 구성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4480560"/>
          </a:xfrm>
          <a:prstGeom prst="roundRect">
            <a:avLst>
              <a:gd name="adj" fmla="val 1818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합성 대상 하드웨어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28803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arrayMatMult.v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511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Array 곱셈기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9502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wallaceTreeMatMult.v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2611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Wallace tree </a:t>
            </a:r>
            <a:r>
              <a:rPr lang="en-US" sz="115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47000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power_bench_wrapper.v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010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LFSR 입력 · 전력 측정용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54498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fpga_top_bram.v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760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BRAM+7seg · 보드 데모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1783080"/>
            <a:ext cx="3520440" cy="4480560"/>
          </a:xfrm>
          <a:prstGeom prst="roundRect">
            <a:avLst>
              <a:gd name="adj" fmla="val 1818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09160" y="2057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Testbench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09160" y="2542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· 전력 검증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28803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09160" y="32004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tb_MatMult.v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3511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곱셈기 단위 검증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9502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tb_golden_compare.v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42611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골든 비교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09160" y="47000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tb_power_bench.v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5010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SAIF 토글 생성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1783080"/>
            <a:ext cx="3520440" cy="4480560"/>
          </a:xfrm>
          <a:prstGeom prst="roundRect">
            <a:avLst>
              <a:gd name="adj" fmla="val 1818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458200" y="2057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458200" y="2542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골든 · 정확도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58200" y="2971800"/>
            <a:ext cx="28803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458200" y="32004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make_golden.py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58200" y="3511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SQNR (Precision </a:t>
            </a:r>
            <a:r>
              <a:rPr lang="ko-KR" altLang="en-US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지표</a:t>
            </a:r>
            <a:r>
              <a:rPr lang="en-US" altLang="ko-KR" sz="11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altLang="ko-KR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검증 ① — RTL </a:t>
            </a:r>
            <a:r>
              <a:rPr lang="ko-KR" alt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정확성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케이스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81528" y="2418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84448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84448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.mem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43016" y="2418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45936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45936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 시뮬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04504" y="2418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07424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07424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 </a:t>
            </a:r>
            <a:r>
              <a:rPr lang="ko-KR" alt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 검증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908792" cy="1874520"/>
          </a:xfrm>
          <a:prstGeom prst="roundRect">
            <a:avLst>
              <a:gd name="adj" fmla="val 3415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 / 240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</a:t>
            </a:r>
            <a:r>
              <a:rPr lang="en-US" sz="14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 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0" y="4434840"/>
            <a:ext cx="0" cy="12344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0" y="45262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곱셈기 </a:t>
            </a:r>
            <a:r>
              <a:rPr lang="en-US" sz="15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</a:t>
            </a: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</a:t>
            </a:r>
            <a:r>
              <a:rPr lang="ko-KR" alt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</a:t>
            </a: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무관하게</a:t>
            </a: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RTL </a:t>
            </a:r>
            <a:r>
              <a:rPr lang="en-US" sz="15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</a:t>
            </a:r>
            <a:r>
              <a:rPr lang="ko-KR" alt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검증함</a:t>
            </a: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손실은 곱셈이 </a:t>
            </a:r>
            <a:r>
              <a:rPr lang="en-US" sz="15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아닌</a:t>
            </a: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Precision </a:t>
            </a:r>
            <a:r>
              <a:rPr lang="ko-KR" alt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</a:t>
            </a:r>
            <a:r>
              <a:rPr lang="en-US" sz="15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</a:t>
            </a: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Array vs. Wallace — 결과 (INT8)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600200"/>
          <a:ext cx="10908792" cy="2121408"/>
        </p:xfrm>
        <a:graphic>
          <a:graphicData uri="http://schemas.openxmlformats.org/drawingml/2006/table">
            <a:tbl>
              <a:tblPr/>
              <a:tblGrid>
                <a:gridCol w="1818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LUT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CARRY4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Slice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Fmax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Power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Array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132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285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113.8 MHz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mW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Wallace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779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113.4 MHz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mW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−0.3%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−61%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−8.4%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−0.4%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−10%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−61%</a:t>
            </a:r>
            <a:endParaRPr lang="en-US" sz="4600" dirty="0"/>
          </a:p>
        </p:txBody>
      </p:sp>
      <p:sp>
        <p:nvSpPr>
          <p:cNvPr id="4" name="Text 3"/>
          <p:cNvSpPr/>
          <p:nvPr/>
        </p:nvSpPr>
        <p:spPr>
          <a:xfrm>
            <a:off x="914400" y="5093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CARRY4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−8.4%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0" y="5093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 0%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0" y="5093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LUT · Fmax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Wallace의 실질 이득은 속도가 아닌 면적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왜 Wallace가 빠르지 않은가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6213DAE-056E-5132-9394-5E299E9D0A18}"/>
              </a:ext>
            </a:extLst>
          </p:cNvPr>
          <p:cNvSpPr/>
          <p:nvPr/>
        </p:nvSpPr>
        <p:spPr>
          <a:xfrm>
            <a:off x="822960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2F18797-0E66-FE9D-7383-8EB72605A8BF}"/>
              </a:ext>
            </a:extLst>
          </p:cNvPr>
          <p:cNvSpPr/>
          <p:nvPr/>
        </p:nvSpPr>
        <p:spPr>
          <a:xfrm>
            <a:off x="822960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케이스</a:t>
            </a:r>
            <a:endParaRPr lang="en-US" sz="15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275A34A-9AA1-3543-CC52-5A867C9C492D}"/>
              </a:ext>
            </a:extLst>
          </p:cNvPr>
          <p:cNvSpPr/>
          <p:nvPr/>
        </p:nvSpPr>
        <p:spPr>
          <a:xfrm>
            <a:off x="3081528" y="2418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92E3CEC-DE0E-656C-B3BE-D39EC1211AC2}"/>
              </a:ext>
            </a:extLst>
          </p:cNvPr>
          <p:cNvSpPr/>
          <p:nvPr/>
        </p:nvSpPr>
        <p:spPr>
          <a:xfrm>
            <a:off x="3584448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395314C-0CE8-3A0A-4138-B4EF2B1A7DFD}"/>
              </a:ext>
            </a:extLst>
          </p:cNvPr>
          <p:cNvSpPr/>
          <p:nvPr/>
        </p:nvSpPr>
        <p:spPr>
          <a:xfrm>
            <a:off x="3584448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LUT</a:t>
            </a:r>
            <a:endParaRPr lang="en-US" sz="15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EFE50B4-E2FD-44FF-B76F-2202CA8ED558}"/>
              </a:ext>
            </a:extLst>
          </p:cNvPr>
          <p:cNvSpPr/>
          <p:nvPr/>
        </p:nvSpPr>
        <p:spPr>
          <a:xfrm>
            <a:off x="5843016" y="2418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FF5CFCAB-36AD-2BA2-F70E-ECE016D23D3F}"/>
              </a:ext>
            </a:extLst>
          </p:cNvPr>
          <p:cNvSpPr/>
          <p:nvPr/>
        </p:nvSpPr>
        <p:spPr>
          <a:xfrm>
            <a:off x="6345936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77C4E04-2BC5-D72F-6DD6-8276C7530F46}"/>
              </a:ext>
            </a:extLst>
          </p:cNvPr>
          <p:cNvSpPr/>
          <p:nvPr/>
        </p:nvSpPr>
        <p:spPr>
          <a:xfrm>
            <a:off x="6345936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carry4</a:t>
            </a:r>
            <a:endParaRPr lang="en-US" sz="15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E1B5102-D41C-DC67-179F-B3D90B580E84}"/>
              </a:ext>
            </a:extLst>
          </p:cNvPr>
          <p:cNvSpPr/>
          <p:nvPr/>
        </p:nvSpPr>
        <p:spPr>
          <a:xfrm>
            <a:off x="8604504" y="2418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F3183839-5B84-953E-4D71-D85DBCD65E32}"/>
              </a:ext>
            </a:extLst>
          </p:cNvPr>
          <p:cNvSpPr/>
          <p:nvPr/>
        </p:nvSpPr>
        <p:spPr>
          <a:xfrm>
            <a:off x="9107424" y="21488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42A537C-F960-895E-9E51-72BC77941616}"/>
              </a:ext>
            </a:extLst>
          </p:cNvPr>
          <p:cNvSpPr/>
          <p:nvPr/>
        </p:nvSpPr>
        <p:spPr>
          <a:xfrm>
            <a:off x="9107424" y="21488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결과 </a:t>
            </a:r>
            <a:endParaRPr lang="en-US" sz="15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AB031599-5E6E-8114-E530-5AC554DFF63D}"/>
              </a:ext>
            </a:extLst>
          </p:cNvPr>
          <p:cNvSpPr/>
          <p:nvPr/>
        </p:nvSpPr>
        <p:spPr>
          <a:xfrm>
            <a:off x="822960" y="427482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C995501E-197D-DC9F-3BE4-C6AC30752FE9}"/>
              </a:ext>
            </a:extLst>
          </p:cNvPr>
          <p:cNvSpPr/>
          <p:nvPr/>
        </p:nvSpPr>
        <p:spPr>
          <a:xfrm>
            <a:off x="822960" y="427482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케이스</a:t>
            </a:r>
            <a:endParaRPr lang="en-US" sz="15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30987C0C-0A68-30B6-B10F-EE1EE97C2620}"/>
              </a:ext>
            </a:extLst>
          </p:cNvPr>
          <p:cNvSpPr/>
          <p:nvPr/>
        </p:nvSpPr>
        <p:spPr>
          <a:xfrm>
            <a:off x="3081528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00F56C6B-266B-3839-136E-4DFEF4613673}"/>
              </a:ext>
            </a:extLst>
          </p:cNvPr>
          <p:cNvSpPr/>
          <p:nvPr/>
        </p:nvSpPr>
        <p:spPr>
          <a:xfrm>
            <a:off x="3584448" y="427482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852B4374-864A-DCB0-737B-889B9E5C7294}"/>
              </a:ext>
            </a:extLst>
          </p:cNvPr>
          <p:cNvSpPr/>
          <p:nvPr/>
        </p:nvSpPr>
        <p:spPr>
          <a:xfrm>
            <a:off x="3584448" y="427482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LUT(CSA)</a:t>
            </a:r>
            <a:endParaRPr lang="en-US" sz="15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D7C2CC54-9666-C05C-2019-E84426908B1D}"/>
              </a:ext>
            </a:extLst>
          </p:cNvPr>
          <p:cNvSpPr/>
          <p:nvPr/>
        </p:nvSpPr>
        <p:spPr>
          <a:xfrm>
            <a:off x="5843016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8232DCC0-61BF-C309-CFBD-47D92597F3CE}"/>
              </a:ext>
            </a:extLst>
          </p:cNvPr>
          <p:cNvSpPr/>
          <p:nvPr/>
        </p:nvSpPr>
        <p:spPr>
          <a:xfrm>
            <a:off x="6345936" y="427482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6C96C948-421E-4D75-1EFE-0D31A7E685B5}"/>
              </a:ext>
            </a:extLst>
          </p:cNvPr>
          <p:cNvSpPr/>
          <p:nvPr/>
        </p:nvSpPr>
        <p:spPr>
          <a:xfrm>
            <a:off x="6345936" y="427482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ROUTING</a:t>
            </a:r>
            <a:endParaRPr lang="en-US" sz="15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06D8FCAC-8BB7-7FCE-6C25-9EFB4C22815D}"/>
              </a:ext>
            </a:extLst>
          </p:cNvPr>
          <p:cNvSpPr/>
          <p:nvPr/>
        </p:nvSpPr>
        <p:spPr>
          <a:xfrm>
            <a:off x="8604504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0469B986-17C3-3466-25A5-6DF8B9444BBC}"/>
              </a:ext>
            </a:extLst>
          </p:cNvPr>
          <p:cNvSpPr/>
          <p:nvPr/>
        </p:nvSpPr>
        <p:spPr>
          <a:xfrm>
            <a:off x="9107424" y="427482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46CECE23-1954-E198-46E0-9FD7C6C2027C}"/>
              </a:ext>
            </a:extLst>
          </p:cNvPr>
          <p:cNvSpPr/>
          <p:nvPr/>
        </p:nvSpPr>
        <p:spPr>
          <a:xfrm>
            <a:off x="9107424" y="427482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629F178D-9EB4-32EA-EC5C-1C244F80FB3D}"/>
              </a:ext>
            </a:extLst>
          </p:cNvPr>
          <p:cNvSpPr/>
          <p:nvPr/>
        </p:nvSpPr>
        <p:spPr>
          <a:xfrm>
            <a:off x="2430585" y="1398950"/>
            <a:ext cx="4806461" cy="515819"/>
          </a:xfrm>
          <a:custGeom>
            <a:avLst/>
            <a:gdLst>
              <a:gd name="csX0" fmla="*/ 4806461 w 4806461"/>
              <a:gd name="csY0" fmla="*/ 508004 h 515819"/>
              <a:gd name="csX1" fmla="*/ 2297723 w 4806461"/>
              <a:gd name="csY1" fmla="*/ 4 h 515819"/>
              <a:gd name="csX2" fmla="*/ 0 w 4806461"/>
              <a:gd name="csY2" fmla="*/ 515819 h 515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06461" h="515819">
                <a:moveTo>
                  <a:pt x="4806461" y="508004"/>
                </a:moveTo>
                <a:cubicBezTo>
                  <a:pt x="3952630" y="253353"/>
                  <a:pt x="3098800" y="-1298"/>
                  <a:pt x="2297723" y="4"/>
                </a:cubicBezTo>
                <a:cubicBezTo>
                  <a:pt x="1496646" y="1306"/>
                  <a:pt x="0" y="515819"/>
                  <a:pt x="0" y="51581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A0638DB5-B178-5C76-A6F3-EFCC88D80400}"/>
              </a:ext>
            </a:extLst>
          </p:cNvPr>
          <p:cNvSpPr/>
          <p:nvPr/>
        </p:nvSpPr>
        <p:spPr>
          <a:xfrm>
            <a:off x="2086708" y="5509846"/>
            <a:ext cx="5400430" cy="570596"/>
          </a:xfrm>
          <a:custGeom>
            <a:avLst/>
            <a:gdLst>
              <a:gd name="csX0" fmla="*/ 5400430 w 5400430"/>
              <a:gd name="csY0" fmla="*/ 31262 h 570596"/>
              <a:gd name="csX1" fmla="*/ 2790092 w 5400430"/>
              <a:gd name="csY1" fmla="*/ 570523 h 570596"/>
              <a:gd name="csX2" fmla="*/ 0 w 5400430"/>
              <a:gd name="csY2" fmla="*/ 0 h 570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00430" h="570596">
                <a:moveTo>
                  <a:pt x="5400430" y="31262"/>
                </a:moveTo>
                <a:cubicBezTo>
                  <a:pt x="4545297" y="303497"/>
                  <a:pt x="3690164" y="575733"/>
                  <a:pt x="2790092" y="570523"/>
                </a:cubicBezTo>
                <a:cubicBezTo>
                  <a:pt x="1890020" y="565313"/>
                  <a:pt x="945010" y="282656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8B88FBC-4878-1968-C533-4E5A68700B49}"/>
              </a:ext>
            </a:extLst>
          </p:cNvPr>
          <p:cNvCxnSpPr>
            <a:stCxn id="61" idx="2"/>
          </p:cNvCxnSpPr>
          <p:nvPr/>
        </p:nvCxnSpPr>
        <p:spPr>
          <a:xfrm flipV="1">
            <a:off x="2430585" y="1727200"/>
            <a:ext cx="128465" cy="1875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BF21B51-89EE-82CC-E243-3D618F1AEA97}"/>
              </a:ext>
            </a:extLst>
          </p:cNvPr>
          <p:cNvCxnSpPr/>
          <p:nvPr/>
        </p:nvCxnSpPr>
        <p:spPr>
          <a:xfrm>
            <a:off x="2430585" y="1914769"/>
            <a:ext cx="249115" cy="66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888C1433-5BEE-9637-DA01-395172DF8BCD}"/>
              </a:ext>
            </a:extLst>
          </p:cNvPr>
          <p:cNvCxnSpPr/>
          <p:nvPr/>
        </p:nvCxnSpPr>
        <p:spPr>
          <a:xfrm>
            <a:off x="2086708" y="5509846"/>
            <a:ext cx="3438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E92D302-5104-3DE5-FA82-2F1748208450}"/>
              </a:ext>
            </a:extLst>
          </p:cNvPr>
          <p:cNvCxnSpPr>
            <a:stCxn id="62" idx="2"/>
          </p:cNvCxnSpPr>
          <p:nvPr/>
        </p:nvCxnSpPr>
        <p:spPr>
          <a:xfrm>
            <a:off x="2086708" y="5509846"/>
            <a:ext cx="104042" cy="275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Shape 12">
            <a:extLst>
              <a:ext uri="{FF2B5EF4-FFF2-40B4-BE49-F238E27FC236}">
                <a16:creationId xmlns:a16="http://schemas.microsoft.com/office/drawing/2014/main" id="{7D6EE96A-7E39-8693-FA81-A6CD8A95AC51}"/>
              </a:ext>
            </a:extLst>
          </p:cNvPr>
          <p:cNvSpPr/>
          <p:nvPr/>
        </p:nvSpPr>
        <p:spPr>
          <a:xfrm>
            <a:off x="9107424" y="428625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E68F31F2-C02A-CD60-D015-2130F0C4B95E}"/>
              </a:ext>
            </a:extLst>
          </p:cNvPr>
          <p:cNvSpPr/>
          <p:nvPr/>
        </p:nvSpPr>
        <p:spPr>
          <a:xfrm>
            <a:off x="9107424" y="428625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결과 </a:t>
            </a:r>
            <a:endParaRPr lang="en-US" sz="1500" dirty="0"/>
          </a:p>
        </p:txBody>
      </p:sp>
      <p:sp>
        <p:nvSpPr>
          <p:cNvPr id="91" name="Text 0">
            <a:extLst>
              <a:ext uri="{FF2B5EF4-FFF2-40B4-BE49-F238E27FC236}">
                <a16:creationId xmlns:a16="http://schemas.microsoft.com/office/drawing/2014/main" id="{85104F44-2C78-AE75-91F4-3C5AD13D3643}"/>
              </a:ext>
            </a:extLst>
          </p:cNvPr>
          <p:cNvSpPr/>
          <p:nvPr/>
        </p:nvSpPr>
        <p:spPr>
          <a:xfrm>
            <a:off x="896521" y="1569516"/>
            <a:ext cx="1294229" cy="41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Array</a:t>
            </a:r>
            <a:endParaRPr lang="en-US" sz="2000" dirty="0"/>
          </a:p>
        </p:txBody>
      </p:sp>
      <p:sp>
        <p:nvSpPr>
          <p:cNvPr id="93" name="Text 0">
            <a:extLst>
              <a:ext uri="{FF2B5EF4-FFF2-40B4-BE49-F238E27FC236}">
                <a16:creationId xmlns:a16="http://schemas.microsoft.com/office/drawing/2014/main" id="{A49F7271-91DA-AD63-86A5-822A5C68A4A3}"/>
              </a:ext>
            </a:extLst>
          </p:cNvPr>
          <p:cNvSpPr/>
          <p:nvPr/>
        </p:nvSpPr>
        <p:spPr>
          <a:xfrm>
            <a:off x="896521" y="3794556"/>
            <a:ext cx="2331495" cy="41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Wallace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A2ED-10C2-B5DD-6520-35543383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3A9DAD-35D9-1EBE-4DD4-929E8E6624A5}"/>
              </a:ext>
            </a:extLst>
          </p:cNvPr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왜 Wallace가 빠르지 않은가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8FE562-85AF-BB68-4C41-4BCC0356D4E5}"/>
              </a:ext>
            </a:extLst>
          </p:cNvPr>
          <p:cNvSpPr/>
          <p:nvPr/>
        </p:nvSpPr>
        <p:spPr>
          <a:xfrm>
            <a:off x="11347704" y="5989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82D37B-C590-D0DF-EE50-99D71D51AC4D}"/>
              </a:ext>
            </a:extLst>
          </p:cNvPr>
          <p:cNvSpPr/>
          <p:nvPr/>
        </p:nvSpPr>
        <p:spPr>
          <a:xfrm>
            <a:off x="640080" y="2256304"/>
            <a:ext cx="10908792" cy="16002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ABFF54-6C45-2FF0-275B-65F7859631EB}"/>
              </a:ext>
            </a:extLst>
          </p:cNvPr>
          <p:cNvSpPr/>
          <p:nvPr/>
        </p:nvSpPr>
        <p:spPr>
          <a:xfrm>
            <a:off x="822960" y="24849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CARRY4 전용 캐리 체인  ≈ 0.11 ns/단</a:t>
            </a:r>
            <a:r>
              <a:rPr lang="en-US" sz="1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vs          </a:t>
            </a:r>
            <a:r>
              <a:rPr lang="en-US" sz="1700" b="1" dirty="0">
                <a:solidFill>
                  <a:srgbClr val="111111"/>
                </a:solidFill>
                <a:latin typeface="Courier New" pitchFamily="34" charset="0"/>
                <a:ea typeface="맑은 고딕" pitchFamily="34" charset="-122"/>
                <a:cs typeface="Courier New" pitchFamily="34" charset="-120"/>
              </a:rPr>
              <a:t>routing</a:t>
            </a:r>
            <a:r>
              <a:rPr lang="en-US" sz="17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≈ 0.31 ns/단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BADB94-08D5-F3F7-64AB-3EA6D9250ACC}"/>
              </a:ext>
            </a:extLst>
          </p:cNvPr>
          <p:cNvSpPr/>
          <p:nvPr/>
        </p:nvSpPr>
        <p:spPr>
          <a:xfrm>
            <a:off x="822960" y="32164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하드와이어가 LUT보다 약 3배 빠름 → 트리로 캐리 단수를 </a:t>
            </a:r>
            <a:r>
              <a:rPr lang="en-US" sz="14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줄여도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비트를 </a:t>
            </a:r>
            <a:r>
              <a:rPr lang="ko-KR" altLang="en-US" sz="14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옮기는게</a:t>
            </a:r>
            <a:r>
              <a:rPr lang="ko-KR" alt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느리기 때문에</a:t>
            </a:r>
            <a:r>
              <a:rPr lang="en-US" altLang="ko-KR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이득 상쇄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FE8CA9-D3C6-AAA6-8FAA-EDED4841C76F}"/>
              </a:ext>
            </a:extLst>
          </p:cNvPr>
          <p:cNvSpPr/>
          <p:nvPr/>
        </p:nvSpPr>
        <p:spPr>
          <a:xfrm>
            <a:off x="667512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AAA917C-D1CC-F8C9-491C-BFEF91615ED4}"/>
              </a:ext>
            </a:extLst>
          </p:cNvPr>
          <p:cNvSpPr/>
          <p:nvPr/>
        </p:nvSpPr>
        <p:spPr>
          <a:xfrm>
            <a:off x="850392" y="4892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 비중 ≈ 51 % (칩 사용률 2 %) — 배치 노이즈 영향 가능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INT8은 트리 깊이 차 5단(0.57 ns) — INT16에서 재검증 필요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 차이는 mW 해상도 한계 내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902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검증 ② — SQNR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정밀도를 낮추면 결과가 얼마나 부정확해지는가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SQNR = 10·log₁₀ ( Σx² / Σ(x−x̂)² )   [dB]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FP32 원본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81528" y="31043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84448" y="28346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84448" y="28346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양자화 round()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43016" y="31043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45936" y="28346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45936" y="28346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행렬곱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04504" y="31043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07424" y="2834640"/>
            <a:ext cx="2258568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07424" y="283464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→ SQNR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0908792" cy="1417320"/>
          </a:xfrm>
          <a:prstGeom prst="roundRect">
            <a:avLst>
              <a:gd name="adj" fmla="val 4516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8006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양자화(round)에서만 손실 발생.  RTL 검증 ①이 HW = 정수결과를 보장하므로 → Python SQNR = 하드웨어 정확도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Array / Wallace는 bit-exact 등가 → 정확도 축에는 SQNR이 정밀도당 하나만 존재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왜 비교 원본이 FP32인가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063240"/>
          </a:xfrm>
          <a:prstGeom prst="roundRect">
            <a:avLst>
              <a:gd name="adj" fmla="val 2090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정확도의 정의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참값 없이는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“얼마나 정확한가”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자체가 불가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3063240"/>
          </a:xfrm>
          <a:prstGeom prst="roundRect">
            <a:avLst>
              <a:gd name="adj" fmla="val 2090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0" y="2057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충분한 정밀도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474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FP32 ≈ 24 bit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대상(INT16)보다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bit 이상 정밀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063240"/>
          </a:xfrm>
          <a:prstGeom prst="roundRect">
            <a:avLst>
              <a:gd name="adj" fmla="val 2090"/>
            </a:avLst>
          </a:prstGeom>
          <a:solidFill>
            <a:srgbClr val="F4F4F5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38160" y="2057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2104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응용의 원본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474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모델</a:t>
            </a:r>
            <a:endParaRPr lang="en-US" sz="1300" dirty="0">
              <a:solidFill>
                <a:srgbClr val="55555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신경망은</a:t>
            </a: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FP32로 </a:t>
            </a:r>
            <a:r>
              <a:rPr lang="en-US" sz="1300" dirty="0" err="1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반례   </a:t>
            </a:r>
            <a:r>
              <a:rPr lang="en-US" sz="15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INT8을 기준으로 삼으면 INT16의 우위가 측정 불가 — 원본에 없는 정보는 만들 수 </a:t>
            </a:r>
            <a:r>
              <a:rPr lang="en-US" sz="15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r>
              <a:rPr lang="en-US" sz="15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INT4 / INT8 / INT16 — SQNR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SQNR (dB)  vs.  정밀도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437648367"/>
              </p:ext>
            </p:extLst>
          </p:nvPr>
        </p:nvGraphicFramePr>
        <p:xfrm>
          <a:off x="548640" y="173736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2286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B02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−25 dB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73152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INT8 → INT4 손실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52360" y="4109357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6.02 dB/bit 이론과 일치 (이론 24 vs 실측 25)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INT4 ≈ 잡음 23 %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64×64 × 20회, per-tensor 대칭 양자화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 ·  실제 태스크 정확도 </a:t>
            </a:r>
            <a:r>
              <a:rPr lang="en-US" sz="1250" i="1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</a:t>
            </a:r>
            <a:r>
              <a:rPr lang="en-US" sz="1250" i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정규분포 가정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논의 — 정밀도 축 비용 측정 및 추후 계획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질문:  DW 변경 실험에서 면적·전력을 추가로 측정해야 하는가?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SQNR(정확도)은 3개 정밀도 완료, 비용(LUT/전력/Fmax)은 INT8만 측정된 상태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정확도–비용 트레이드오프 곡선이 프로젝트 결론 → INT4 / INT16 비용 측정이 </a:t>
            </a:r>
            <a:r>
              <a:rPr lang="en-US" sz="135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필요하다고</a:t>
            </a:r>
            <a:r>
              <a:rPr lang="en-US" sz="13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예상: 곱셈기 면적 ∝ 비트폭² → INT4 ≈ ¼, INT16 ≈ 4배 수준 (DSP 추론 차단 전제)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06059"/>
              </p:ext>
            </p:extLst>
          </p:nvPr>
        </p:nvGraphicFramePr>
        <p:xfrm>
          <a:off x="640080" y="3337560"/>
          <a:ext cx="10908792" cy="204825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INT4 / INT16 면적·전력·Fmax 측정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ns 런(면적·SAIF 전력) + 3 ns 런(Fmax) 분리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INT16에서 Array vs. Wallace 재검증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트리 깊이 12단 차이(1.4 ns)에서 속도 격차 확인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altLang="ko-KR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최종 트레이드오프 표 완성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SQNR – Slice – Dynamic – Fmax 통합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8521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 정밀도별 「정확도 손실 ↔ 자원·전력 절감」 곡선을 실측 기반으로 완성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755</Words>
  <Application>Microsoft Office PowerPoint</Application>
  <PresentationFormat>와이드스크린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윤재 배</cp:lastModifiedBy>
  <cp:revision>4</cp:revision>
  <dcterms:created xsi:type="dcterms:W3CDTF">2026-07-19T04:18:21Z</dcterms:created>
  <dcterms:modified xsi:type="dcterms:W3CDTF">2026-07-20T04:41:09Z</dcterms:modified>
</cp:coreProperties>
</file>